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52c0de587c49e6" /><Relationship Type="http://schemas.openxmlformats.org/officeDocument/2006/relationships/extended-properties" Target="/docProps/app.xml" Id="R05d2a74d6a684455" /><Relationship Type="http://schemas.openxmlformats.org/officeDocument/2006/relationships/officeDocument" Target="/ppt/presentation.xml" Id="R33466876e1a844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8614cb45484901"/>
  </p:sldMasterIdLst>
  <p:notesMasterIdLst>
    <p:notesMasterId xmlns:r="http://schemas.openxmlformats.org/officeDocument/2006/relationships" r:id="Rca85f26c8724478c"/>
  </p:notesMasterIdLst>
  <p:sldIdLst>
    <p:sldId xmlns:r="http://schemas.openxmlformats.org/officeDocument/2006/relationships" id="256" r:id="Rb028cbab4f6d4fe9"/>
    <p:sldId xmlns:r="http://schemas.openxmlformats.org/officeDocument/2006/relationships" id="257" r:id="Rd6c15364992a461a"/>
    <p:sldId xmlns:r="http://schemas.openxmlformats.org/officeDocument/2006/relationships" id="258" r:id="R35189654d6194ebf"/>
    <p:sldId xmlns:r="http://schemas.openxmlformats.org/officeDocument/2006/relationships" id="259" r:id="Reb1b73230bd4447d"/>
    <p:sldId xmlns:r="http://schemas.openxmlformats.org/officeDocument/2006/relationships" id="260" r:id="Rfac6838e801a4e11"/>
    <p:sldId xmlns:r="http://schemas.openxmlformats.org/officeDocument/2006/relationships" id="261" r:id="Rffe130ea249b410e"/>
    <p:sldId xmlns:r="http://schemas.openxmlformats.org/officeDocument/2006/relationships" id="262" r:id="Re5f95f8baeb84b4c"/>
    <p:sldId xmlns:r="http://schemas.openxmlformats.org/officeDocument/2006/relationships" id="263" r:id="R868da3592aa8442b"/>
    <p:sldId xmlns:r="http://schemas.openxmlformats.org/officeDocument/2006/relationships" id="264" r:id="R33d335a99b884aaf"/>
    <p:sldId xmlns:r="http://schemas.openxmlformats.org/officeDocument/2006/relationships" id="265" r:id="R2eaf020b6fa5452a"/>
    <p:sldId xmlns:r="http://schemas.openxmlformats.org/officeDocument/2006/relationships" id="266" r:id="Rea34dc55611f407d"/>
    <p:sldId xmlns:r="http://schemas.openxmlformats.org/officeDocument/2006/relationships" id="267" r:id="R3b8e3788bc514cd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8614cb45484901" /><Relationship Type="http://schemas.openxmlformats.org/officeDocument/2006/relationships/theme" Target="/ppt/theme/theme1.xml" Id="Rabe1094731424e6d" /><Relationship Type="http://schemas.openxmlformats.org/officeDocument/2006/relationships/notesMaster" Target="/ppt/notesMasters/notesMaster1.xml" Id="Rca85f26c8724478c" /><Relationship Type="http://schemas.openxmlformats.org/officeDocument/2006/relationships/presProps" Target="/ppt/presProps.xml" Id="Rce04b3a2e9c64a30" /><Relationship Type="http://schemas.openxmlformats.org/officeDocument/2006/relationships/viewProps" Target="/ppt/viewProps.xml" Id="R753ef7e4c9564982" /><Relationship Type="http://schemas.openxmlformats.org/officeDocument/2006/relationships/tableStyles" Target="/ppt/tableStyles.xml" Id="Re726520d93594edc" /><Relationship Type="http://schemas.openxmlformats.org/officeDocument/2006/relationships/slide" Target="/ppt/slides/slide1.xml" Id="Rb028cbab4f6d4fe9" /><Relationship Type="http://schemas.openxmlformats.org/officeDocument/2006/relationships/slide" Target="/ppt/slides/slide2.xml" Id="Rd6c15364992a461a" /><Relationship Type="http://schemas.openxmlformats.org/officeDocument/2006/relationships/slide" Target="/ppt/slides/slide3.xml" Id="R35189654d6194ebf" /><Relationship Type="http://schemas.openxmlformats.org/officeDocument/2006/relationships/slide" Target="/ppt/slides/slide4.xml" Id="Reb1b73230bd4447d" /><Relationship Type="http://schemas.openxmlformats.org/officeDocument/2006/relationships/slide" Target="/ppt/slides/slide5.xml" Id="Rfac6838e801a4e11" /><Relationship Type="http://schemas.openxmlformats.org/officeDocument/2006/relationships/slide" Target="/ppt/slides/slide6.xml" Id="Rffe130ea249b410e" /><Relationship Type="http://schemas.openxmlformats.org/officeDocument/2006/relationships/slide" Target="/ppt/slides/slide7.xml" Id="Re5f95f8baeb84b4c" /><Relationship Type="http://schemas.openxmlformats.org/officeDocument/2006/relationships/slide" Target="/ppt/slides/slide8.xml" Id="R868da3592aa8442b" /><Relationship Type="http://schemas.openxmlformats.org/officeDocument/2006/relationships/slide" Target="/ppt/slides/slide9.xml" Id="R33d335a99b884aaf" /><Relationship Type="http://schemas.openxmlformats.org/officeDocument/2006/relationships/slide" Target="/ppt/slides/slide10.xml" Id="R2eaf020b6fa5452a" /><Relationship Type="http://schemas.openxmlformats.org/officeDocument/2006/relationships/slide" Target="/ppt/slides/slide11.xml" Id="Rea34dc55611f407d" /><Relationship Type="http://schemas.openxmlformats.org/officeDocument/2006/relationships/slide" Target="/ppt/slides/slide12.xml" Id="R3b8e3788bc514c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3f8fbcc95624f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9fba82f11d4fdf" /><Relationship Type="http://schemas.openxmlformats.org/officeDocument/2006/relationships/notesMaster" Target="/ppt/notesMasters/notesMaster1.xml" Id="R36e76c17f63b40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bcbf65fbaa4daf" /><Relationship Type="http://schemas.openxmlformats.org/officeDocument/2006/relationships/notesMaster" Target="/ppt/notesMasters/notesMaster1.xml" Id="R68347802ab084a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f7f4348ef74a0b" /><Relationship Type="http://schemas.openxmlformats.org/officeDocument/2006/relationships/notesMaster" Target="/ppt/notesMasters/notesMaster1.xml" Id="Rb371059ec1cd4e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3a74760bf3477a" /><Relationship Type="http://schemas.openxmlformats.org/officeDocument/2006/relationships/notesMaster" Target="/ppt/notesMasters/notesMaster1.xml" Id="R59ac4b54cf7345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c5c79eab04466a" /><Relationship Type="http://schemas.openxmlformats.org/officeDocument/2006/relationships/notesMaster" Target="/ppt/notesMasters/notesMaster1.xml" Id="Rc328ddaef8c745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a9fc77b6404a43" /><Relationship Type="http://schemas.openxmlformats.org/officeDocument/2006/relationships/notesMaster" Target="/ppt/notesMasters/notesMaster1.xml" Id="Rd0474e2d3e8f4f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b2ca7cd7ee4ad4" /><Relationship Type="http://schemas.openxmlformats.org/officeDocument/2006/relationships/notesMaster" Target="/ppt/notesMasters/notesMaster1.xml" Id="R0549cdd592a841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ce49ba69d14b08" /><Relationship Type="http://schemas.openxmlformats.org/officeDocument/2006/relationships/notesMaster" Target="/ppt/notesMasters/notesMaster1.xml" Id="R9c7ce94308064a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96e92d21cc4ea5" /><Relationship Type="http://schemas.openxmlformats.org/officeDocument/2006/relationships/notesMaster" Target="/ppt/notesMasters/notesMaster1.xml" Id="R290b075fa1874c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4ea9232cb8d420c" /><Relationship Type="http://schemas.openxmlformats.org/officeDocument/2006/relationships/notesMaster" Target="/ppt/notesMasters/notesMaster1.xml" Id="R5a9701414316469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e85b8f4037348c6" /><Relationship Type="http://schemas.openxmlformats.org/officeDocument/2006/relationships/notesMaster" Target="/ppt/notesMasters/notesMaster1.xml" Id="Rf7f0615861a4456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4c7e7d27e684160" /><Relationship Type="http://schemas.openxmlformats.org/officeDocument/2006/relationships/notesMaster" Target="/ppt/notesMasters/notesMaster1.xml" Id="R9359cde9f88644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ad48fbf5bc46c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5128c760b3640e3" /><Relationship Type="http://schemas.openxmlformats.org/officeDocument/2006/relationships/slideLayout" Target="/ppt/slideLayouts/slideLayout2.xml" Id="R7286352e517e4b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86352e517e4b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79a83657964fae" /><Relationship Type="http://schemas.openxmlformats.org/officeDocument/2006/relationships/notesSlide" Target="/ppt/notesSlides/notesSlide1.xml" Id="Rd03b8e7c50cd46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e456f628444a56" /><Relationship Type="http://schemas.openxmlformats.org/officeDocument/2006/relationships/image" Target="/ppt/media/image.png" Id="R0318c0cf5f6745f2" /><Relationship Type="http://schemas.openxmlformats.org/officeDocument/2006/relationships/image" Target="/ppt/media/image.svg" Id="R089b84cf01e1460b" /><Relationship Type="http://schemas.openxmlformats.org/officeDocument/2006/relationships/image" Target="/ppt/media/image2.png" Id="Ree7e5b61ff4a4619" /><Relationship Type="http://schemas.openxmlformats.org/officeDocument/2006/relationships/image" Target="/ppt/media/image2.svg" Id="Rbcc97d76b9d54c11" /><Relationship Type="http://schemas.openxmlformats.org/officeDocument/2006/relationships/image" Target="/ppt/media/image3.png" Id="Rbf24db62d6914dbc" /><Relationship Type="http://schemas.openxmlformats.org/officeDocument/2006/relationships/image" Target="/ppt/media/image3.svg" Id="Rb51fad0c7e374608" /><Relationship Type="http://schemas.openxmlformats.org/officeDocument/2006/relationships/image" Target="/ppt/media/image4.png" Id="Rcf458763c1024a0c" /><Relationship Type="http://schemas.openxmlformats.org/officeDocument/2006/relationships/image" Target="/ppt/media/image4.svg" Id="R1d01392914e645cc" /><Relationship Type="http://schemas.openxmlformats.org/officeDocument/2006/relationships/notesSlide" Target="/ppt/notesSlides/notesSlide2.xml" Id="Re71af219bc7746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05e27e6eab41d9" /><Relationship Type="http://schemas.openxmlformats.org/officeDocument/2006/relationships/notesSlide" Target="/ppt/notesSlides/notesSlide3.xml" Id="R059eba86bf0144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23002801c1446d" /><Relationship Type="http://schemas.openxmlformats.org/officeDocument/2006/relationships/notesSlide" Target="/ppt/notesSlides/notesSlide4.xml" Id="Rd66e5553f44a4b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7aac69f03f4c1c" /><Relationship Type="http://schemas.openxmlformats.org/officeDocument/2006/relationships/notesSlide" Target="/ppt/notesSlides/notesSlide5.xml" Id="Ra40a8035fb904e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d1a098ffb84cb4" /><Relationship Type="http://schemas.openxmlformats.org/officeDocument/2006/relationships/notesSlide" Target="/ppt/notesSlides/notesSlide6.xml" Id="Rf2e6d5b56d104a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d7f56d73244d30" /><Relationship Type="http://schemas.openxmlformats.org/officeDocument/2006/relationships/notesSlide" Target="/ppt/notesSlides/notesSlide7.xml" Id="R5d284468ba844a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047bf1b0094d07" /><Relationship Type="http://schemas.openxmlformats.org/officeDocument/2006/relationships/notesSlide" Target="/ppt/notesSlides/notesSlide8.xml" Id="R61f3118645f54fa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e518f7123242d2" /><Relationship Type="http://schemas.openxmlformats.org/officeDocument/2006/relationships/notesSlide" Target="/ppt/notesSlides/notesSlide9.xml" Id="Rc98b8676d59544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cb10e0b13f4d80" /><Relationship Type="http://schemas.openxmlformats.org/officeDocument/2006/relationships/notesSlide" Target="/ppt/notesSlides/notesSlide10.xml" Id="R7fe838f93d714e3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544da7a2e641e1" /><Relationship Type="http://schemas.openxmlformats.org/officeDocument/2006/relationships/notesSlide" Target="/ppt/notesSlides/notesSlide11.xml" Id="Rb367b0f84450458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a403ab23004493" /><Relationship Type="http://schemas.openxmlformats.org/officeDocument/2006/relationships/notesSlide" Target="/ppt/notesSlides/notesSlide12.xml" Id="R53c2948b8c8e4fe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17310F-7AA4-4BCC-8195-33203123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9AD11B-3C1C-483B-A222-288315AF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2ECDF2-DB12-4AF0-A863-222A96FD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AE6F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AE6FD"/>
                </a:solidFill>
                <a:latin typeface="Aptos"/>
                <a:ea typeface="Aptos"/>
                <a:cs typeface="Aptos"/>
              </a:rPr>
              <a:t>MTENDERE ADMIN MANAGEMENT PLATFORM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140E81-E79B-43D5-B3F7-3AFBA414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5905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Modular Management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Ecosystem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722DAF-87DA-4FD9-9346-132BC9E6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657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3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E3F0"/>
                </a:solidFill>
                <a:latin typeface="Aptos"/>
                <a:ea typeface="Aptos"/>
                <a:cs typeface="Aptos"/>
              </a:rPr>
              <a:t>Enterprise-grade operations across scholarships, jobs, partners, CMS, teams, users, roles, applications, analytics, reporting, and public conversion workflows.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DE7673-8A19-4BDB-9D21-B7CA63D2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790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42C95F-9DF0-4708-9756-AB4644BB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EAF3E8-590D-42D4-9B2A-0D422BEA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006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1DC449-7826-463E-90DE-AE1D5200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core management systems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5D5853-6771-4799-9E8B-34B1F75E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648200"/>
            <a:ext cx="1790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124A92-9DAA-4D98-90CF-0DFADEA3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6482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26C920-C738-4EA4-A415-42872CE3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8006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30+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DC78B2-B233-4B7B-A924-D61D46B4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1435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workflow/API controls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E9F2B7-7BD4-423B-949A-75187D1F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648200"/>
            <a:ext cx="1790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044B4F-66EF-42CE-B537-7869726E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6482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FAE7E6-1CA9-4858-B169-E90ECAF9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006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9CD8E0-01D3-416C-9237-E969431E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1435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unified command center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6AB588-1955-46A9-B51B-903E64A9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028700"/>
            <a:ext cx="2876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752AD6-73C2-4D7E-95F8-3A64DE9B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0287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555DF6-2F6D-4B43-9D64-33CA3C3D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152525"/>
            <a:ext cx="2590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E5958F-59BC-4B72-A4CE-451A75A3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409700"/>
            <a:ext cx="2590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Lifecycle, review, exports, reports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2E77BA-F5FD-4440-B4D1-D544509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38400"/>
            <a:ext cx="2876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43C0FF-108D-4808-AEF8-D0F2F8CD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384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6EEEAF-7721-4A3F-B7E5-2DA3CD99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62225"/>
            <a:ext cx="2590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Public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A1212F-A919-4A0C-9A07-0FE845CD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19400"/>
            <a:ext cx="2590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Search, detail, applications, dashboard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DBE361-3823-4ABA-9E8F-1298784C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48100"/>
            <a:ext cx="2876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E07F54-791F-4E08-A58E-BB36FD7F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481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A4D8DE-99E3-40D7-852E-1E6C5301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71925"/>
            <a:ext cx="2590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0C6DBD-C9C9-4493-A9D3-27E2F6F2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29100"/>
            <a:ext cx="2590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Workflows, reviews, sessions, snapshots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68166A-8637-4AD2-A441-8F1B6751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0790471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5A6BA8-F492-4A73-9C93-573F4164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26AB6F-8DCF-421D-8271-DE0B7ADA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8D5EB8-DACB-4BE7-9799-FC66CB51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VISION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D315E-9930-4904-AF11-918B9846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 single operating layer for every growth and delivery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8F6422-E279-4C31-8FEF-6AD49267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platform now treats content, applicants, partners, users, reports, and permissions as connected operating systems instead of isolated admin lists.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624B0E-66CD-4025-81E3-E7062754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Mtendere Modular Management Ecosystem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9221E8-A950-4BC9-AC05-EB975988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416FDB-AF9C-4E0E-BCC9-3891AD67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2362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186EB5-2058-4BEA-977C-EC0ECE3D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18c0cf5f6745f2">
            <a:extLst>
              <a:ext uri="{96DAC541-7B7A-43D3-8B79-37D633B846F1}">
                <asvg:svgBlip xmlns:asvg="http://schemas.microsoft.com/office/drawing/2016/SVG/main" r:embed="R089b84cf01e1460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7750" y="29146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4FA9DB-3666-48FF-A87D-E1BDA30E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099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Scholarships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F48F64-DA9F-4D4F-813E-F6F595AC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Funding lifecycle, applications, reviews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7CF50A-7F02-403A-890A-9A1D68C7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52700"/>
            <a:ext cx="2362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836439-B5DE-4314-9464-DD949211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194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7e5b61ff4a4619">
            <a:extLst>
              <a:ext uri="{96DAC541-7B7A-43D3-8B79-37D633B846F1}">
                <asvg:svgBlip xmlns:asvg="http://schemas.microsoft.com/office/drawing/2016/SVG/main" r:embed="Rbcc97d76b9d54c1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829050" y="29146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15454A-1ADD-4A00-A64E-3E53071B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099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Jobs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72DC77-B8F8-46A3-BA86-7D9F6FEB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829050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Recruitment pipelines and candidate workflows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70C200-A23A-4228-8544-C93FBDD2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52700"/>
            <a:ext cx="2362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D6AF19-37E2-4AFA-BACD-19A498F0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194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24db62d6914dbc">
            <a:extLst>
              <a:ext uri="{96DAC541-7B7A-43D3-8B79-37D633B846F1}">
                <asvg:svgBlip xmlns:asvg="http://schemas.microsoft.com/office/drawing/2016/SVG/main" r:embed="Rb51fad0c7e37460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10350" y="29146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4BA3E0-AC86-4929-BD8E-0CF1761F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099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Partners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0C5DBC-5262-435C-8E4D-BA16268C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29050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CRM, sponsorships, renewals, contributions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7A39EA-C187-4E22-ADA0-74D37BB8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52700"/>
            <a:ext cx="2362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AEF590-299A-4725-A2B0-37828981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194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458763c1024a0c">
            <a:extLst>
              <a:ext uri="{96DAC541-7B7A-43D3-8B79-37D633B846F1}">
                <asvg:svgBlip xmlns:asvg="http://schemas.microsoft.com/office/drawing/2016/SVG/main" r:embed="R1d01392914e645c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391650" y="29146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1BA0FC-53FA-4836-B61D-F4D1F84F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4099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CMS + Team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C52FEA-D167-4152-B6FA-6F7D4212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829050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Publishing, revisions, profiles, visibility</a:t>
            </a:r>
          </a:p>
        </p:txBody>
      </p:sp>
    </p:spTree>
    <p:extLst>
      <p:ext uri="{BB962C8B-B14F-4D97-AF65-F5344CB8AC3E}">
        <p14:creationId xmlns:p14="http://schemas.microsoft.com/office/powerpoint/2010/main" val="52738104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77FD60-34F0-407A-86E0-ED488AE7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398EED-DCAB-4EBD-BBEB-421E6E41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64779A-014A-42B8-B73B-5F497D09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COMMAND CENTER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A41818-9EF1-49C5-8C7B-1EA3ADEF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ecosystem dashboard turns modules into a portfolio of operations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ACD4BE-603F-4A01-81F6-A1057F7B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Admins can compare active records, workflow load, risks, security posture, and automation readiness from one surface.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E17AA6-4852-47FA-9466-B5850E8B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Mtendere Modular Management Ecosystem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DBA7A5-DA66-438D-94D5-1E54C287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A5379C-875A-4AC6-8FA9-0AFD4559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A078D6-571C-4A1A-86F5-59C356C6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9544E7-FECC-475C-8E32-678C59AB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Total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7F2E58-E61D-4B68-9917-2F6258BC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records across all modules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76D021-F24E-4EAF-9AD5-46A9A274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81250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6ABE62-44B1-4526-B9B2-9C3E6645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812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A91A6B-0C99-4B25-998B-EF4EB816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3365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Active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9119E6-7CF3-4C0C-B31D-0298A275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76550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live operational records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108D1A-1A7E-4677-B74F-8AA79354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81250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0600AA-5F85-483D-8D0C-33337783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812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129AB3-E4DC-4066-A2B5-804C64E8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53365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Queue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C9F347-52E3-4C17-80D4-9497D493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76550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workflow items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B15B3A-2FEB-4F41-BBBF-893538E4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B89F98-A62A-4E71-A7D2-879B0DD7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A217D9-5CFA-42DE-919F-3D89A8DB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3365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9775B0-8695-4260-985D-BAD0B7F8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76550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attention points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786185-E0C8-4655-8C4B-1B1EE40D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Scholarships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CE8DAB-6872-400B-AE0C-AE90D45A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267200"/>
            <a:ext cx="5905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2FE117-C7E8-4AFB-AAF9-E1CFFCBD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267200"/>
            <a:ext cx="4962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B73CC2-C278-4A03-A140-3D0D1C00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Jobs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9D2358-D0F7-445B-B0DB-73F2A774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629150"/>
            <a:ext cx="5905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99C8E3-9A12-4480-B078-F7E9C60C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629150"/>
            <a:ext cx="42481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664C12-E5D4-4AE4-A790-12A4F764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Applications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BF652A-FC4B-43A7-9901-BBDED5C2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91100"/>
            <a:ext cx="5905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1C73EE-88CE-471E-8E70-580D2E07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91100"/>
            <a:ext cx="3429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C2227A-F37B-4987-9E61-1710FC5A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1495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Partners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D92139-E382-436E-AC09-4B2FB372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353050"/>
            <a:ext cx="5905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6DE753-0A0B-4886-92DC-B5FFA2B1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353050"/>
            <a:ext cx="389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ABDD02-2E31-4D06-87E8-AFC2D2AB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285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C7957F-C599-4D4E-9620-4677645B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D42D01-5972-4EA3-A852-42694036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19575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Operational health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D67512-FA85-46E7-8725-7255470A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76750"/>
            <a:ext cx="2571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Risk is calculated from stale content, pending queues, expired deadlines, missing assets, and suspended accounts.</a:t>
            </a:r>
          </a:p>
        </p:txBody>
      </p:sp>
    </p:spTree>
    <p:extLst>
      <p:ext uri="{BB962C8B-B14F-4D97-AF65-F5344CB8AC3E}">
        <p14:creationId xmlns:p14="http://schemas.microsoft.com/office/powerpoint/2010/main" val="169610939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7817EC-6746-43D7-94F7-5E2776CE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D6D023-1CB6-40C7-B7E6-74DC7786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F5589E-5021-4E27-B72D-7E257E60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LIFECYCLE CONTROLS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4A1C53-4C89-405F-9B17-30AA14AD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Every content module now has production workflow controls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83C94-79F1-421A-A30B-2EFD0BFD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Scholarships, jobs, CMS, team profiles, users, and applications have operational states beyond basic CRUD.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977EED-6CA1-4BC6-93E4-664A4547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Mtendere Modular Management Ecosystem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80BE8B-9112-4F40-B571-E2C51676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C3868-D884-4F19-B24E-A7017329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1695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05CD32-0133-470E-8A9B-1AA61B4B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93BE04-84DD-448B-8A11-6B096F6E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90825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Create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C3FC0C-BA0D-42C5-AB81-B5C2D154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1409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structured fields, media, SEO, metadata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A50FAE-8F2D-45C7-9F2D-A5EFD857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242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2AA87B-4F49-4B69-A70C-F427F09C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67000"/>
            <a:ext cx="1695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57C4F1-8ADE-4420-A713-692A801B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6700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C31F6C-794B-4B41-AB5B-32CCC52B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90825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F9B5FB-139D-4493-ABD3-953F09D6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48000"/>
            <a:ext cx="1409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scores, notes, stages, reviewer history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77E1BF-941F-4720-89F1-EC7E7E8E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242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8CFEA5-3EBC-4F06-82E3-E9912734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667000"/>
            <a:ext cx="1695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42D207-7045-45F0-96C5-62C37552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66700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AAA513-35AE-4E52-A11B-4F56E822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90825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Publish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50DB3F-5F7E-4BCC-A323-ED8A9E20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48000"/>
            <a:ext cx="1409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status endpoint, schedule-ready metadata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7FFF58-4305-40D0-932E-E8E55CCA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242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66BD1E-CA31-49B1-9531-AD4A2CA6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67000"/>
            <a:ext cx="1695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0D1EF3-7C8A-4BC8-8092-8C613D43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6700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DE97A8-306A-4F56-876F-5206D883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90825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Operate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DA94C8-0290-43FB-AEFE-020628E5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48000"/>
            <a:ext cx="1409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exports, analytics, reports, alerts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69ED97-8695-4E54-9E5D-0C63BF51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242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740FA2-A75E-46FB-B681-5243FEBB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67000"/>
            <a:ext cx="1695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A9B16F-1C5C-40DA-998A-0C3BDD52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6700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2048AA-BE1F-42F9-939E-4F5B70A3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90825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Archive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D837B7-CC9F-4602-B0B8-10F5C5AE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48000"/>
            <a:ext cx="1409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safe status transitions and audit events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A694CF-195A-4791-A4C7-041B15CA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19600"/>
            <a:ext cx="885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workflow API surface supports duplication, publish/archive status updates, analytics summaries, exports, and module reports.</a:t>
            </a:r>
          </a:p>
        </p:txBody>
      </p:sp>
    </p:spTree>
    <p:extLst>
      <p:ext uri="{BB962C8B-B14F-4D97-AF65-F5344CB8AC3E}">
        <p14:creationId xmlns:p14="http://schemas.microsoft.com/office/powerpoint/2010/main" val="186696912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D96781-CA3B-40E8-8EB4-E6A7EE7A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E9AA92-7B7C-444B-B6A3-00C8F969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872F85-B538-4E3E-B2F4-2114FC78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APPLICATIONS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BF9EEE-317B-4CA0-8B18-1A5DC3D1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 unified review pipeline spans scholarships, jobs, partners, events, and contact flows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8CEE87-DFA2-4DAB-A2B8-B7D0E642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Public forms now support draft saving and custom questions; admin review supports score, stage, shortlist, interview scheduling, notes, and status notifications.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9EAC40-5887-48AD-8F5D-ADD7EF4F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Mtendere Modular Management Ecosystem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D04FE1-8933-4A0C-95C7-CBBAC8C6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A216F9-8FAA-4CB6-A535-1459BC84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52700"/>
            <a:ext cx="2095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1689D5-E733-4EE4-AB49-67C50D38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52700"/>
            <a:ext cx="57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AB9E19-BB45-4C6F-8E8D-0EC73547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7652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Applicant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560194-2B07-4695-AEDF-77501882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Draft, upload, answer questions, submit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7B2691-8584-4B38-8B2F-B0CCC9AD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552700"/>
            <a:ext cx="2095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CB5A2A-8B23-43FC-BF95-055E6ED3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552700"/>
            <a:ext cx="57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C22DFE-8DB4-4A6E-8981-CADB4841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7652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Queue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C4858A-9EC8-45AD-A4D9-06492272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337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Pending, under review, waitlisted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4FF482-B3FC-48FA-9BBE-B4E72847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52700"/>
            <a:ext cx="2095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1CB945-BF04-4D1D-B33A-5BD1BAD8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52700"/>
            <a:ext cx="57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6B2D8C-DB3F-47A6-B63D-2E91215A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7652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FB37B3-930D-4B79-BE0C-3C4316E1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337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Score, comments, verification checks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C2FA25-6538-400D-8AE7-F688CA3C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552700"/>
            <a:ext cx="2095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8179CC-0784-4B2D-A01C-C2F5F2A9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552700"/>
            <a:ext cx="57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442692-874C-4F0F-9DDE-DDAD9616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67652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9B5E47-F47C-4F37-B256-9B12EA1A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337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Approve, reject, notify, export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F1D93E-65DB-4980-B91F-BF9A0D40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99085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139516-4B46-47F4-AF5C-6BA7169F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99085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AAE382-E7D4-471B-BFB0-7B08EABA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9085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31B802-AC3C-43C4-B5D2-3015206B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14850"/>
            <a:ext cx="1905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866F40-75C5-4EE9-B33D-329695A0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148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621D95-B6EC-4C39-B578-D2711FFB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667250"/>
            <a:ext cx="1638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CSV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822A17-0B4E-4E4E-BD7D-EEDB8C4F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010150"/>
            <a:ext cx="1638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exports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B91C1E-E85E-484C-BF09-57A3880D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14850"/>
            <a:ext cx="1905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48853B-0BDB-4C42-B486-B6A764F8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148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4FD991-8C92-4A46-98D7-02AC4D3B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67250"/>
            <a:ext cx="1638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PDF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0FD2E2-E807-4456-9B30-FEA1A358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010150"/>
            <a:ext cx="1638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report-ready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33F79C-69E7-44AE-B60C-BBFC7ACB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14850"/>
            <a:ext cx="1905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694994-FD24-4165-A573-82CEEA5D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148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FB15A5-E6DE-455E-BD94-5430C8A9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67250"/>
            <a:ext cx="1638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Email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0EDBCE-3A65-48DE-B633-73F292C5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10150"/>
            <a:ext cx="1638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notifications</a:t>
            </a:r>
          </a:p>
        </p:txBody>
      </p:sp>
    </p:spTree>
    <p:extLst>
      <p:ext uri="{BB962C8B-B14F-4D97-AF65-F5344CB8AC3E}">
        <p14:creationId xmlns:p14="http://schemas.microsoft.com/office/powerpoint/2010/main" val="113433077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971438-CDF0-46F6-8FAC-7FCF917E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4E4438-7610-4215-941A-317C0F10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FD473D-FED0-47E4-9CB0-913D2C26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DATA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81E3F5-928F-409E-8AD0-9455D8C4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New normalized tables make workflows durable and extensible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6D28DB-AF06-4B2C-B7E1-E3454A8D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database architecture adds cross-module records without breaking existing content tables.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63047D-51C8-438E-A115-6D7C3A94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Mtendere Modular Management Ecosystem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472EDE-70DC-4054-8667-818F36DF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AB2B84-4943-4B55-8487-8F767450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476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6D4539-17C0-4BBA-A8D1-7D959255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57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F427F8-1219-45A5-8A99-F2A7CE60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90775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module_workflows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77BE50-0350-4D14-96E1-9A16135E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47950"/>
            <a:ext cx="447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assignment, stage, priority, due dates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22FD76-FCB5-4942-B05A-386FBE79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66950"/>
            <a:ext cx="476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08B2FA-E0F3-45E7-BDCE-DA97748E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66950"/>
            <a:ext cx="57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76CC06-0D1B-4CA7-B260-BF4E7733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90775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application_reviews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0CB702-8C54-4C0B-A54D-D58D76CD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47950"/>
            <a:ext cx="447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scores, reviewer comments, interviews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6ECC9E-ABCC-4911-9117-D548F92C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476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925B2E-0E9E-4926-998A-9F3E4C53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57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09D3A2-2AA4-4668-8E9C-E7D4F4FB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28975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application_documents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BA897C-BF0C-44FC-99A6-CDEC1762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86150"/>
            <a:ext cx="447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files, versions, access levels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8FEC96-A3EA-44C3-BA3A-305EFBA4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05150"/>
            <a:ext cx="476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92297B-70F9-4E89-B3C4-D6B5E726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05150"/>
            <a:ext cx="57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18C62E-E321-4BBD-B079-6E812359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28975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content_revisions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A6427C-C703-4A6A-924E-CC659D56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86150"/>
            <a:ext cx="447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version history and snapshots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715C74-243B-4F09-BE48-480A7A19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476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2E05A7-A508-4DC7-AAF9-F7A78166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57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99C076-A446-4EE7-8DAD-D98181F7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67175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scheduled_reports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079B96-CBA1-4C45-8457-C1B077E1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24350"/>
            <a:ext cx="447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cadence, filters, recipients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9CBFC0-0B36-446E-9AB3-C8CACB02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43350"/>
            <a:ext cx="476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288976-0CBC-4010-AF8D-2D8C31EE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43350"/>
            <a:ext cx="57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7E6FCB-EBE2-47D8-9A5E-30FBEE1B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67175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user_sessions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922F4E-194A-4605-BC56-4FD9FFDA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24350"/>
            <a:ext cx="447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device and session tracking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350475-F031-4878-A28E-5D22CDA2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81550"/>
            <a:ext cx="476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A7D900-C2BA-4ECE-B66F-7CFB6BCD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81550"/>
            <a:ext cx="57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2AA1CD-AAFF-4714-804F-94E2C6F3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05375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permission_audit_logs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C53813-736C-4E49-875B-764A0930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62550"/>
            <a:ext cx="447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access-control audit trail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6CB8EC-DA84-42C4-B102-D11E2574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81550"/>
            <a:ext cx="476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77722A-0C9E-40C3-93E1-79B1460A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81550"/>
            <a:ext cx="57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174C998-7E81-4B8A-B292-83C91498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05375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module_analytics_snapshots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5657D8-63B7-4EF7-8FC3-0EB9B89C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62550"/>
            <a:ext cx="447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historical KPI snapshots</a:t>
            </a:r>
          </a:p>
        </p:txBody>
      </p:sp>
    </p:spTree>
    <p:extLst>
      <p:ext uri="{BB962C8B-B14F-4D97-AF65-F5344CB8AC3E}">
        <p14:creationId xmlns:p14="http://schemas.microsoft.com/office/powerpoint/2010/main" val="99433195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E574EC-F891-4B2B-BCED-DF4D11E7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6D833C-8D85-44CD-B989-81E8D384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BC7584-C87F-4DCD-B3A0-F4D4057E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SECURITY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14F787-882F-4551-94DD-BCBD803A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RBAC now has a richer enterprise control surface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C0C17A-F50E-4242-A084-A366D529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permission catalog exposes module/action permissions, role inheritance, route guards, and audit-ready data structures.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78407E-2EBC-43C5-99BB-F89D8A18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Mtendere Modular Management Ecosystem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DF4C1E-EEA8-4374-9858-15357F87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1255D6-EC54-471E-A248-3774A1B4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5FC743-6D53-4DA9-8141-0C21B6D6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DD0FAA-5AF7-4A64-97E2-19EE7661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4797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Viewer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EDAD29-8886-487F-BB99-8A4EF7C8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051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read dashboards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B40CBE-48EC-40F1-A504-09B651DF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241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2422B0-3169-451F-A28F-D55F58F8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241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BD6482-FDB6-43F2-A516-6A6B1590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4797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Editor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55907B-71E6-478B-8476-182533DB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051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create and publish content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9C4B81-4074-440C-A21C-80900C52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241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436816-38A3-4088-AF24-8DA920C1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241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8CEAB5-FDD3-4E8D-9BA2-CA5625F5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4797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E9177B-A1BB-4D93-845B-2A4D36AA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051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users, applications, analytics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B2D886-419A-4E67-8BA2-5A6762B8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241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84179F-1C2E-4941-96B3-90755EBC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241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2D2B94-C9A1-43D1-BAE7-425F9FFA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4797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Super Admin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A3250C-306B-4125-B5D4-EBABD140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051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roles, settings, full governance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DB2034-28EB-487F-A3CD-158724C6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7200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Permission actions: create, read, update, delete, approve, publish, export, archive, manage analytics, manage users, manage roles.</a:t>
            </a:r>
          </a:p>
        </p:txBody>
      </p:sp>
    </p:spTree>
    <p:extLst>
      <p:ext uri="{BB962C8B-B14F-4D97-AF65-F5344CB8AC3E}">
        <p14:creationId xmlns:p14="http://schemas.microsoft.com/office/powerpoint/2010/main" val="49536250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CCFAFC-324D-4172-A5C5-701F61E0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00B8C5-7ECE-413E-BBAA-F77459C9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442342-3D7B-4DA9-929D-0EAF3E70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ANALYTICS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B1469F-84C4-43F5-BDF0-6F47D524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Every module exposes KPIs, exports, and report-ready summaries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2A49A3-3D07-42CC-8F37-927646C9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Dashboards now track content volume, live records, applications, conversion, reviews, interviews, risk items, partner performance, and user governance.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76AE03-CFA0-4C51-85C4-AC2F9634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Mtendere Modular Management Ecosystem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B956C-BF10-4081-A2D9-E588604A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8F6CA5-6324-4A04-BBD0-09747E96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543AEE-8A53-4572-93D9-54CA3C99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D7B6C3-681A-4859-87C6-199FB2CB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5270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Users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CFF010-832F-417D-B003-739A3604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95600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role and region analytics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E9D28D-DA4A-4CDF-A9B7-0EA2DA86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00300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CDA2EF-5040-41CE-901A-A05601BA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003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12D990-FDB6-4983-8D3E-38B3F03C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55270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4CB09B-73F0-4B79-AC7D-328B4949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95600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published vs draft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9217AD-6E66-44F4-9546-4948F7CC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00300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359415-AC80-4FC8-84EC-DDAEB830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003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4762EA-C463-404A-9FF6-F807CD46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5270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Apps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08F79B-FCBE-4BA4-A31D-C2ACD641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95600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pipeline and scoring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923CA7-2EDF-4626-9272-9C26F173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00300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140027-1BF0-4020-81C4-8230EE7A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003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A97899-1871-4BB2-BBBF-1AF7225A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5270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Ops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A42D51-246A-447D-9A2C-5BA0AFEE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95600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risk and automation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E1CDAA-AF6D-4509-984B-9B6C5B09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0055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Conversion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792D20-E146-4E4D-94DA-F7555D67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438650"/>
            <a:ext cx="7143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1543B1-A96F-4DAB-84A3-B673876D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438650"/>
            <a:ext cx="4857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DA8D7B-0031-4BDF-9801-BD5B5238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0060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Review completion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A1942B-2B68-4370-B3C1-110D26C5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838700"/>
            <a:ext cx="7143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573D42-7CB5-4F15-8AA2-9B3B5184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838700"/>
            <a:ext cx="38576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459A92-2680-4AA3-A1D5-5F7A7101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0065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Automation readiness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D9F452-E7FD-44BD-8538-52804126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238750"/>
            <a:ext cx="7143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6D2F92-99B4-4F74-9003-262D4827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238750"/>
            <a:ext cx="6286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0725724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CBF274-0F47-4B1F-BD4D-BA063E59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0DE286-C664-49ED-80FF-FA2FF06D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5F2781-1FD0-4133-8D2F-E38B26FE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PUBLIC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C541AC-019A-4DD9-AEA7-BAE2887A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public platform is now a workflow intake layer, not just a marketing site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7D846A-E3F7-4A63-8E2E-30A42BB0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Scholarship and job detail pages feed structured applications into the admin pipeline with uploads, custom questions, status tracking, and dashboard visibility.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AAED15-270D-4012-9BF4-A7DCE4DA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Mtendere Modular Management Ecosystem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26C8DB-1A27-4DFB-A113-F12BC343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489B70-0935-470F-86DE-8355B489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228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CDFEB5-C7A5-43A3-9D75-1C0B4249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57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C098BA-63B8-4FF3-92C5-73CD9D3A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9557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291C9E-93B9-442B-9B33-351F6CBE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5275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Scholarship/job listings and detail pages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63B982-F5D4-48AD-B3F1-B7E0D6EE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71750"/>
            <a:ext cx="228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F45ABE-A9CB-46B8-ADDB-CFBE041E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71750"/>
            <a:ext cx="57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7E172D-3792-446F-9AA2-D62958AC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69557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Apply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0C5F0D-D89A-48EC-8665-05A83D81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95275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Drafts, uploads, custom answers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3BAE40-9E57-49C0-8262-373C15D0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228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8B01FC-5C80-4E02-BE7E-C39A5F3A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57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6AAA4E-D0D3-43B4-BC16-AED416FB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9557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Track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5D9703-F0FE-435E-806B-144E1020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5275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Applicant dashboard and notifications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FF4034-8838-4C2D-A3B6-73A0E277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71750"/>
            <a:ext cx="228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767A20-019D-4811-9F00-D8949C75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71750"/>
            <a:ext cx="57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8C2FE7-7A2C-4D26-9CA1-7F15D337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9557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Optimize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28AA1C-0E56-434C-9B56-AF2AFDFB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5275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Analytics and recommendations-ready metadata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53E747-92BF-491C-A34B-AC14C7DE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72000"/>
            <a:ext cx="895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Public conversion data now connects directly to administrative review, reporting, and future AI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147368639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99B483-837A-43B4-B194-B21BBFD0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789EC-B203-4CBF-801D-4E31CF09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D2A7B1-5EF6-4FFC-B069-5109FBAA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AUTOMATION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009455-823D-4842-B0BA-0EB5905E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architecture is ready for queues, scheduled reports, and AI workflows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A3DBFA-6B15-4AE0-BF42-73AC52E7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New hooks prepare the platform for predictive analytics, smart search, semantic tagging, automated reporting, and external integrations.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976987-6B2F-4512-ADBF-03B70E0C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Mtendere Modular Management Ecosystem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E22082-07F7-4C67-8B0D-25DAC5CA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52802C-84A5-43E4-9C5B-8F1EC66F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2857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89C9C4-9CA9-4717-9CB4-17AAE7F3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276012-0B6A-4D58-AF73-8958A78B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24125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Scheduled reports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68055A-8799-44B1-93D5-4AB2B8B5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2571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cadence, recipients, filters, output format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F974B3-B8D6-40B9-B0E3-A27F8F71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00300"/>
            <a:ext cx="2857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83ED00-6B8B-41DC-B5FB-0126DCF9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00300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0CD7B4-7372-448A-9048-F645A86C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24125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Webhook-ready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87CD30-FB9E-4844-A530-A4CA8326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2571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event and partner payload patterns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BE767B-3B55-4F09-A6B7-36782B12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00300"/>
            <a:ext cx="2857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ED709A-33B0-479B-8FD1-FABF23D6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00300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7E099C-1ADC-4FB2-AEFF-08BF1A8D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24125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AI-ready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B018F1-E5E5-462D-AACD-849ECA64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81300"/>
            <a:ext cx="2571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structured metadata and review signals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4AE79B-C074-4E5E-9566-29DE0456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76650"/>
            <a:ext cx="2857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303A46-E5CA-45AD-88E2-1AF3C647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76650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10F2FC-B5D1-45E9-A152-DD538FAF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00475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Queue-ready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9A7C78-9FEA-41E1-B140-3A154FF9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57650"/>
            <a:ext cx="2571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workflow records and due dates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C2ECD9-AF82-4C4B-B566-E9BFCF7E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76650"/>
            <a:ext cx="2857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650721-6685-4195-B9F3-E9805566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76650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D3CABB-2E38-4741-ADB7-6757B4BA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00475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Notifications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0CE78E-B5E3-4BD6-A50A-CF136BBF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57650"/>
            <a:ext cx="2571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status updates and reminders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32BFBF-68EF-451C-898C-E90D77FC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76650"/>
            <a:ext cx="2857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DDC428-6072-448E-A9CF-1EA0CBC3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76650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92489A-4068-4054-BE98-27920F9B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00475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872936-DBAD-4C0D-B6F7-B2B49522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57650"/>
            <a:ext cx="2571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permission and admin action records</a:t>
            </a:r>
          </a:p>
        </p:txBody>
      </p:sp>
    </p:spTree>
    <p:extLst>
      <p:ext uri="{BB962C8B-B14F-4D97-AF65-F5344CB8AC3E}">
        <p14:creationId xmlns:p14="http://schemas.microsoft.com/office/powerpoint/2010/main" val="118313057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8609DE-4F7E-4E10-92C6-7BCD677A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595B85-68CE-4E46-9B97-F18C87A7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866FA8-E35B-45F4-A2E5-AFD9EE20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IMPLEMENTATION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EC4F31-0CAE-45B1-B7A5-8C13B453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What shipped in this delivery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1E5D7F-F329-406F-AB44-A3DA5A01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platform now includes code, database migrations, APIs, admin UX, public workflows, documentation, visuals, and this executive deck.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A30E3C-4963-4FB0-8B15-ED11C3B2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Mtendere Modular Management Ecosystem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4C6DAD-58BA-4871-8740-DBA2B331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9C5737-8E66-43D2-8716-2CC8C926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285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124F32-2CFA-4D41-85A9-E3A583DC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A38F00-F240-486E-BB20-BF4199C5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24125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Admin UX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DAE047-301B-4600-B1B2-15EF1E32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8130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new ecosystem page plus lifecycle controls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949EB9-6D4D-40B3-A3E0-5AF9275D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00300"/>
            <a:ext cx="285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8E98D5-B4D7-4007-BFDA-CF969CF2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0030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251E28-B1D2-4EF8-AED5-3703D47A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24125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APIs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075DBA-D652-43D5-92B8-CFA2C4C3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8130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analytics, exports, status, duplication, reports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CF2021-DD39-4284-8386-B2B40A3E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00300"/>
            <a:ext cx="285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809248-2BDC-4BF1-BB1A-B4F8B970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0030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ABD084-B4CA-401D-834B-5E9C5EB3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24125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Database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30CC6B-6A83-41AC-B8F8-1218F1C7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8130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8 normalized workflow/reporting tables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768435-919C-4E6A-A911-4A816820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285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025BDA-4FCD-4C1D-A8C0-DD9E3DE1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AEF6BE-9162-4132-8848-74EB2D1E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43325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Public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A112B9-52F3-4A71-9461-C28EE598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0050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draft-saving application intake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76172A-D6F2-4B5F-A799-00198DE4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19500"/>
            <a:ext cx="285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C242CA-133C-4EF8-B9DC-58BFEEC7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1950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3929ED-30CF-4EE0-9E99-7C6C14CF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43325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Docs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D68ACB-F7C8-44F3-A32E-73D3B0FB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0050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technical, functional, operational guide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728CBA-DA46-4482-A420-CB10E59A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19500"/>
            <a:ext cx="285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4642A3-CED2-4E30-97BE-7A8BAC34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1950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DC750A-2ABC-48E7-A833-59AE9791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43325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CA236A-9CFF-4AA0-8874-EFC4B448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0050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stakeholder-ready summary</a:t>
            </a:r>
          </a:p>
        </p:txBody>
      </p:sp>
    </p:spTree>
    <p:extLst>
      <p:ext uri="{BB962C8B-B14F-4D97-AF65-F5344CB8AC3E}">
        <p14:creationId xmlns:p14="http://schemas.microsoft.com/office/powerpoint/2010/main" val="197672160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D8CD83-4A15-4CEC-B156-6B5031DC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794BFC-F945-451B-A79C-B11215E7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AE6F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AE6FD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81BC1-5F3F-462A-99D3-1492C5C9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8763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Mtendere is now positioned as a modular enterprise operating platform.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0CB27-DC1A-482C-8570-42A6B8AD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8001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7E3F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7E3F0"/>
                </a:solidFill>
                <a:latin typeface="Aptos"/>
                <a:ea typeface="Aptos"/>
                <a:cs typeface="Aptos"/>
              </a:rPr>
              <a:t>The architecture can scale from education consulting into institutional programs, NGO operations, innovation hubs, conferences, scholarships, recruitment, partnerships, and government project delivery.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7ACC5E-0D39-41A4-AF14-BEF1DBA1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78E57-A896-4238-93FF-17D0AD82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9C81D9-4FD6-475E-BBA3-AC7D1C73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1550"/>
            <a:ext cx="2114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100713-2781-4762-9BA1-CE9FB100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24450"/>
            <a:ext cx="2114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RBAC, protected exports, audit-ready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BF61D1-6277-4D33-B8C3-B42FB9CC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2915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02ED80-0FC8-4AA0-96FB-B6BE1B09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291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1A9109-BB72-4D08-8D78-C634815B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781550"/>
            <a:ext cx="2114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Scalable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F4065D-9EB4-4109-BD06-C4EAAADC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124450"/>
            <a:ext cx="2114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normalized workflows and reports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F012BD-7874-4308-B7B7-A8587171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2915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666B90-6354-4BE1-ABB3-B4DF09B7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291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884B38-468E-4CD6-B14A-FE3282A3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81550"/>
            <a:ext cx="2114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Extensible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B3B8F9-FE35-4214-991E-9D064CA0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124450"/>
            <a:ext cx="2114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AI, queues, webhooks, automation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F5132A-E5F0-4568-A4AD-DE93D6AB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101178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2026-05-25T10:01:08.5250000Z</dcterms:created>
  <dcterms:modified xsi:type="dcterms:W3CDTF">2026-05-25T10:01:08.5260000Z</dcterms:modified>
</coreProperties>
</file>