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Operating the live Mtendere Education Consult platform securely and confidently.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Navigate the admin portal, protect data, manage content, review applications, handle communications and know when to escalate.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The admin portal supports scholarships, work abroad opportunities, events, articles, users, applications, subscribers, messages, analytics and platform settings.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Keep information accurate, respond quickly, protect personal data, use the correct role and maintain an audit trail.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Super Admin owns users/settings; Admin runs operations; Writer manages content; Viewer reviews dashboard only.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named accounts, strong passwords, least privilege, no shared credentials, no private data in screenshots, and re-enable MFA in the next authentication update.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the issued username and password. MFA is currently disabled for handoff but the setup workflow remains for future updates.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Start every admin session from the Dashboard and check current activity.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the left menu groups: Overview, Content, People, Intelligence and System.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Only Super Admins create, deactivate and update administrator accounts.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the role matrix to confirm access before assigning privileges.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Create draft, complete fields, review, publish, update, unpublish or delete carefully.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Maintain work abroad listings with verified deadlines and external links.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Admins and Super Admins review submissions, update status and record notes.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Review incoming enquiries, respond through verified channels and escalate sensitive cases.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Writers prepare articles; publish only after checking image, title, content and links.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Create and manage event records and registrations.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Maintain partner names, logos and public descriptions.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Keep staff biographies and contact details accurate.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Respect consent, confirmation and unsubscribe requests.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Templates, campaigns and email audit depend on correct public action links.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Payment operations are configuration-dependent and require careful escalation.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approved images, avoid duplicate records and protect sensitive assets.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 analytics for operational trends, not formal financial statements.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Review actions for accountability and troubleshooting.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Beta monitoring feature. Treat as incomplete until production-ready policies are confirmed.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Super Admins manage security, session, cache and platform controls.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Look for Add, Create or New buttons; complete required fields before saving.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Administrators can review key information on mobile, but complex edits are safer on desktop.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If confirmation or unsubscribe links fail, stop campaigns and verify base URL, token route and deployed public page.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Open record → review details → select status → add note → save → notify applicant.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Draft → complete required fields → preview/review → publish → verify public page → monitor expiry.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Identify duty → choose least-privilege role → create account → test access → deactivate when no longer needed.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Dashboard, Applications, Messages, Subscribers, urgent deadlines and failed communications.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Activity, Analytics, stale records, expired opportunities, access review and broken links.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User audit, approved exports, media cleanup, data-protection review and platform improvement log.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Log in, review Dashboard, identify one metric and one recent action.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Create a draft scholarship, save it and explain what must be checked before publishing.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Review an application, change status and add an internal note.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Create a blog article with a featured image and preview it before publishing.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Create a user and assign the lowest role that fits the scenario.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Who can manage roles? Who reviews applications? What should happen when unsubscribe links fail?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Trainee can navigate, protect data, complete workflows, troubleshoot and escalate.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Capture page, timestamp, role, browser, exact error and sanitized screenshot; escalate to Chrispine Mndala / Aöthothe Technologies.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notes: Operate carefully, document decisions and protect client trust. Use this slide to connect the concept to Mtendere's daily operations. Ask trainees to identify what role is allowed to perform the action and what data-protection risk must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6534"/>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1554480"/>
            <a:ext cx="6583680" cy="685800"/>
          </a:xfrm>
          <a:prstGeom prst="rect">
            <a:avLst/>
          </a:prstGeom>
          <a:noFill/>
          <a:ln/>
        </p:spPr>
        <p:txBody>
          <a:bodyPr wrap="square" rtlCol="0" anchor="ct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Mtendere Admin Training</a:t>
            </a:r>
            <a:endParaRPr lang="en-US" sz="3600" dirty="0"/>
          </a:p>
        </p:txBody>
      </p:sp>
      <p:sp>
        <p:nvSpPr>
          <p:cNvPr id="4" name="Text 2"/>
          <p:cNvSpPr/>
          <p:nvPr/>
        </p:nvSpPr>
        <p:spPr>
          <a:xfrm>
            <a:off x="548640" y="2423160"/>
            <a:ext cx="10789920" cy="3474720"/>
          </a:xfrm>
          <a:prstGeom prst="rect">
            <a:avLst/>
          </a:prstGeom>
          <a:noFill/>
          <a:ln/>
        </p:spPr>
        <p:txBody>
          <a:bodyPr wrap="square" rtlCol="0" anchor="ctr">
            <a:normAutofit/>
          </a:bodyPr>
          <a:lstStyle/>
          <a:p>
            <a:pPr indent="0" marL="0">
              <a:buNone/>
            </a:pPr>
            <a:r>
              <a:rPr lang="en-US" sz="1900" dirty="0">
                <a:solidFill>
                  <a:srgbClr val="FFFFFF"/>
                </a:solidFill>
                <a:latin typeface="Aptos" pitchFamily="34" charset="0"/>
                <a:ea typeface="Aptos" pitchFamily="34" charset="-122"/>
                <a:cs typeface="Aptos" pitchFamily="34" charset="-120"/>
              </a:rPr>
              <a:t>Operating the live Mtendere Education Consult platform securely and confidently.</a:t>
            </a:r>
            <a:endParaRPr lang="en-US" sz="19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FFFFFF"/>
                </a:solidFill>
              </a:rPr>
              <a:t>Mtendere Education Consult · Admin Training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Training objectives</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Navigate the admin portal, protect data, manage content, review applications, handle communications and know when to escalate.</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Platform purpose</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The admin portal supports scholarships, work abroad opportunities, events, articles, users, applications, subscribers, messages, analytics and platform settings.</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Administrator responsibilities</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Keep information accurate, respond quickly, protect personal data, use the correct role and maintain an audit trail.</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Role boundaries</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Super Admin owns users/settings; Admin runs operations; Writer manages content; Viewer reviews dashboard only.</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Security rules</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named accounts, strong passwords, least privilege, no shared credentials, no private data in screenshots, and re-enable MFA in the next authentication update.</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Login demonstration</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the issued username and password. MFA is currently disabled for handoff but the setup workflow remains for future updates.</a:t>
            </a:r>
            <a:endParaRPr lang="en-US" sz="1800" dirty="0"/>
          </a:p>
        </p:txBody>
      </p:sp>
      <p:pic>
        <p:nvPicPr>
          <p:cNvPr id="5" name="Image 0" descr="C:\Users\Chrispine Mndala\OneDrive\Desktop\MEC\docs\admin-training\screenshots\annotated\01-login-page.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Dashboard tour</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Start every admin session from the Dashboard and check current activity.</a:t>
            </a:r>
            <a:endParaRPr lang="en-US" sz="1800" dirty="0"/>
          </a:p>
        </p:txBody>
      </p:sp>
      <p:pic>
        <p:nvPicPr>
          <p:cNvPr id="5" name="Image 0" descr="C:\Users\Chrispine Mndala\OneDrive\Desktop\MEC\docs\admin-training\screenshots\annotated\02-dashboard.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Navigation map</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the left menu groups: Overview, Content, People, Intelligence and System.</a:t>
            </a:r>
            <a:endParaRPr lang="en-US" sz="1800" dirty="0"/>
          </a:p>
        </p:txBody>
      </p:sp>
      <p:pic>
        <p:nvPicPr>
          <p:cNvPr id="5" name="Image 0" descr="C:\Users\Chrispine Mndala\OneDrive\Desktop\MEC\docs\admin-training\screenshots\annotated\03-navigation-menu.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Users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Only Super Admins create, deactivate and update administrator accounts.</a:t>
            </a:r>
            <a:endParaRPr lang="en-US" sz="1800" dirty="0"/>
          </a:p>
        </p:txBody>
      </p:sp>
      <p:pic>
        <p:nvPicPr>
          <p:cNvPr id="5" name="Image 0" descr="C:\Users\Chrispine Mndala\OneDrive\Desktop\MEC\docs\admin-training\screenshots\annotated\04-users-list.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Roles &amp; Permissions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the role matrix to confirm access before assigning privileges.</a:t>
            </a:r>
            <a:endParaRPr lang="en-US" sz="1800" dirty="0"/>
          </a:p>
        </p:txBody>
      </p:sp>
      <p:pic>
        <p:nvPicPr>
          <p:cNvPr id="5" name="Image 0" descr="C:\Users\Chrispine Mndala\OneDrive\Desktop\MEC\docs\admin-training\screenshots\annotated\05-roles-permission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Scholarships workflow</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Create draft, complete fields, review, publish, update, unpublish or delete carefully.</a:t>
            </a:r>
            <a:endParaRPr lang="en-US" sz="1800" dirty="0"/>
          </a:p>
        </p:txBody>
      </p:sp>
      <p:pic>
        <p:nvPicPr>
          <p:cNvPr id="5" name="Image 0" descr="C:\Users\Chrispine Mndala\OneDrive\Desktop\MEC\docs\admin-training\screenshots\annotated\06-scholarship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Job Opportunities workflow</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Maintain work abroad listings with verified deadlines and external links.</a:t>
            </a:r>
            <a:endParaRPr lang="en-US" sz="1800" dirty="0"/>
          </a:p>
        </p:txBody>
      </p:sp>
      <p:pic>
        <p:nvPicPr>
          <p:cNvPr id="5" name="Image 0" descr="C:\Users\Chrispine Mndala\OneDrive\Desktop\MEC\docs\admin-training\screenshots\annotated\07-job-opportunitie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Application review</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Admins and Super Admins review submissions, update status and record notes.</a:t>
            </a:r>
            <a:endParaRPr lang="en-US" sz="1800" dirty="0"/>
          </a:p>
        </p:txBody>
      </p:sp>
      <p:pic>
        <p:nvPicPr>
          <p:cNvPr id="5" name="Image 0" descr="C:\Users\Chrispine Mndala\OneDrive\Desktop\MEC\docs\admin-training\screenshots\annotated\08-application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Messages and consultations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Review incoming enquiries, respond through verified channels and escalate sensitive cases.</a:t>
            </a:r>
            <a:endParaRPr lang="en-US" sz="1800" dirty="0"/>
          </a:p>
        </p:txBody>
      </p:sp>
      <p:pic>
        <p:nvPicPr>
          <p:cNvPr id="5" name="Image 0" descr="C:\Users\Chrispine Mndala\OneDrive\Desktop\MEC\docs\admin-training\screenshots\annotated\09-consultation-message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Blog and resources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Writers prepare articles; publish only after checking image, title, content and links.</a:t>
            </a:r>
            <a:endParaRPr lang="en-US" sz="1800" dirty="0"/>
          </a:p>
        </p:txBody>
      </p:sp>
      <p:pic>
        <p:nvPicPr>
          <p:cNvPr id="5" name="Image 0" descr="C:\Users\Chrispine Mndala\OneDrive\Desktop\MEC\docs\admin-training\screenshots\annotated\10-blog-post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Events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Create and manage event records and registrations.</a:t>
            </a:r>
            <a:endParaRPr lang="en-US" sz="1800" dirty="0"/>
          </a:p>
        </p:txBody>
      </p:sp>
      <p:pic>
        <p:nvPicPr>
          <p:cNvPr id="5" name="Image 0" descr="C:\Users\Chrispine Mndala\OneDrive\Desktop\MEC\docs\admin-training\screenshots\annotated\11-event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Partners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Maintain partner names, logos and public descriptions.</a:t>
            </a:r>
            <a:endParaRPr lang="en-US" sz="1800" dirty="0"/>
          </a:p>
        </p:txBody>
      </p:sp>
      <p:pic>
        <p:nvPicPr>
          <p:cNvPr id="5" name="Image 0" descr="C:\Users\Chrispine Mndala\OneDrive\Desktop\MEC\docs\admin-training\screenshots\annotated\12-partner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Team Members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Keep staff biographies and contact details accurate.</a:t>
            </a:r>
            <a:endParaRPr lang="en-US" sz="1800" dirty="0"/>
          </a:p>
        </p:txBody>
      </p:sp>
      <p:pic>
        <p:nvPicPr>
          <p:cNvPr id="5" name="Image 0" descr="C:\Users\Chrispine Mndala\OneDrive\Desktop\MEC\docs\admin-training\screenshots\annotated\13-team-member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Subscribers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Respect consent, confirmation and unsubscribe requests.</a:t>
            </a:r>
            <a:endParaRPr lang="en-US" sz="1800" dirty="0"/>
          </a:p>
        </p:txBody>
      </p:sp>
      <p:pic>
        <p:nvPicPr>
          <p:cNvPr id="5" name="Image 0" descr="C:\Users\Chrispine Mndala\OneDrive\Desktop\MEC\docs\admin-training\screenshots\annotated\14-subscriber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Communications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Templates, campaigns and email audit depend on correct public action links.</a:t>
            </a:r>
            <a:endParaRPr lang="en-US" sz="1800" dirty="0"/>
          </a:p>
        </p:txBody>
      </p:sp>
      <p:pic>
        <p:nvPicPr>
          <p:cNvPr id="5" name="Image 0" descr="C:\Users\Chrispine Mndala\OneDrive\Desktop\MEC\docs\admin-training\screenshots\annotated\15-communication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Payments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Payment operations are configuration-dependent and require careful escalation.</a:t>
            </a:r>
            <a:endParaRPr lang="en-US" sz="1800" dirty="0"/>
          </a:p>
        </p:txBody>
      </p:sp>
      <p:pic>
        <p:nvPicPr>
          <p:cNvPr id="5" name="Image 0" descr="C:\Users\Chrispine Mndala\OneDrive\Desktop\MEC\docs\admin-training\screenshots\annotated\16-payment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Media Governance</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approved images, avoid duplicate records and protect sensitive assets.</a:t>
            </a:r>
            <a:endParaRPr lang="en-US" sz="1800" dirty="0"/>
          </a:p>
        </p:txBody>
      </p:sp>
      <p:pic>
        <p:nvPicPr>
          <p:cNvPr id="5" name="Image 0" descr="C:\Users\Chrispine Mndala\OneDrive\Desktop\MEC\docs\admin-training\screenshots\annotated\17-media-governance.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Analytics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 analytics for operational trends, not formal financial statements.</a:t>
            </a:r>
            <a:endParaRPr lang="en-US" sz="1800" dirty="0"/>
          </a:p>
        </p:txBody>
      </p:sp>
      <p:pic>
        <p:nvPicPr>
          <p:cNvPr id="5" name="Image 0" descr="C:\Users\Chrispine Mndala\OneDrive\Desktop\MEC\docs\admin-training\screenshots\annotated\18-analytic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Activity and audit</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Review actions for accountability and troubleshooting.</a:t>
            </a:r>
            <a:endParaRPr lang="en-US" sz="1800" dirty="0"/>
          </a:p>
        </p:txBody>
      </p:sp>
      <p:pic>
        <p:nvPicPr>
          <p:cNvPr id="5" name="Image 0" descr="C:\Users\Chrispine Mndala\OneDrive\Desktop\MEC\docs\admin-training\screenshots\annotated\19-activity.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AI Chat Assistant</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Beta monitoring feature. Treat as incomplete until production-ready policies are confirmed.</a:t>
            </a:r>
            <a:endParaRPr lang="en-US" sz="1800" dirty="0"/>
          </a:p>
        </p:txBody>
      </p:sp>
      <p:pic>
        <p:nvPicPr>
          <p:cNvPr id="5" name="Image 0" descr="C:\Users\Chrispine Mndala\OneDrive\Desktop\MEC\docs\admin-training\screenshots\annotated\20-ai-chat.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Settings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Super Admins manage security, session, cache and platform controls.</a:t>
            </a:r>
            <a:endParaRPr lang="en-US" sz="1800" dirty="0"/>
          </a:p>
        </p:txBody>
      </p:sp>
      <p:pic>
        <p:nvPicPr>
          <p:cNvPr id="5" name="Image 0" descr="C:\Users\Chrispine Mndala\OneDrive\Desktop\MEC\docs\admin-training\screenshots\annotated\21-setting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Create/edit entry points</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Look for Add, Create or New buttons; complete required fields before saving.</a:t>
            </a:r>
            <a:endParaRPr lang="en-US" sz="1800" dirty="0"/>
          </a:p>
        </p:txBody>
      </p:sp>
      <p:pic>
        <p:nvPicPr>
          <p:cNvPr id="5" name="Image 0" descr="C:\Users\Chrispine Mndala\OneDrive\Desktop\MEC\docs\admin-training\screenshots\annotated\22-scholarship-form-or-create.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Responsive view</a:t>
            </a:r>
            <a:endParaRPr lang="en-US" sz="2800" dirty="0"/>
          </a:p>
        </p:txBody>
      </p:sp>
      <p:sp>
        <p:nvSpPr>
          <p:cNvPr id="4" name="Text 2"/>
          <p:cNvSpPr/>
          <p:nvPr/>
        </p:nvSpPr>
        <p:spPr>
          <a:xfrm>
            <a:off x="548640" y="1115568"/>
            <a:ext cx="457200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Administrators can review key information on mobile, but complex edits are safer on desktop.</a:t>
            </a:r>
            <a:endParaRPr lang="en-US" sz="1800" dirty="0"/>
          </a:p>
        </p:txBody>
      </p:sp>
      <p:pic>
        <p:nvPicPr>
          <p:cNvPr id="5" name="Image 0" descr="C:\Users\Chrispine Mndala\OneDrive\Desktop\MEC\docs\admin-training\screenshots\annotated\23-mobile-subscribers.png">    </p:cNvPr>
          <p:cNvPicPr>
            <a:picLocks noChangeAspect="1"/>
          </p:cNvPicPr>
          <p:nvPr/>
        </p:nvPicPr>
        <p:blipFill>
          <a:blip r:embed="rId1"/>
          <a:stretch>
            <a:fillRect/>
          </a:stretch>
        </p:blipFill>
        <p:spPr>
          <a:xfrm>
            <a:off x="5532120" y="1051560"/>
            <a:ext cx="6126480" cy="4572000"/>
          </a:xfrm>
          <a:prstGeom prst="rect">
            <a:avLst/>
          </a:prstGeom>
        </p:spPr>
      </p:pic>
      <p:sp>
        <p:nvSpPr>
          <p:cNvPr id="6"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Email link failures</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If confirmation or unsubscribe links fail, stop campaigns and verify base URL, token route and deployed public page.</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Application-processing workflow</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Open record → review details → select status → add note → save → notify applicant.</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Content publishing workflow</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Draft → complete required fields → preview/review → publish → verify public page → monitor expiry.</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User access workflow</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Identify duty → choose least-privilege role → create account → test access → deactivate when no longer needed.</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Daily checklist</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Dashboard, Applications, Messages, Subscribers, urgent deadlines and failed communications.</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Weekly checklist</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Activity, Analytics, stale records, expired opportunities, access review and broken links.</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Monthly checklist</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User audit, approved exports, media cleanup, data-protection review and platform improvement log.</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Exercise 1</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Log in, review Dashboard, identify one metric and one recent action.</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Exercise 2</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Create a draft scholarship, save it and explain what must be checked before publishing.</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38</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Exercise 3</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Review an application, change status and add an internal note.</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39</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Exercise 4</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Create a blog article with a featured image and preview it before publishing.</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40</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Exercise 5</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Create a user and assign the lowest role that fits the scenario.</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41</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Knowledge check</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Who can manage roles? Who reviews applications? What should happen when unsubscribe links fail?</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42</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Competency checklist</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Trainee can navigate, protect data, complete workflows, troubleshoot and escalate.</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43</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Support and escalation</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Capture page, timestamp, role, browser, exact error and sanitized screenshot; escalate to Chrispine Mndala / Aöthothe Technologies.</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44</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2B705"/>
          </a:solidFill>
          <a:ln w="12700">
            <a:solidFill>
              <a:srgbClr val="F2B705"/>
            </a:solidFill>
            <a:prstDash val="solid"/>
          </a:ln>
        </p:spPr>
      </p:sp>
      <p:sp>
        <p:nvSpPr>
          <p:cNvPr id="3" name="Text 1"/>
          <p:cNvSpPr/>
          <p:nvPr/>
        </p:nvSpPr>
        <p:spPr>
          <a:xfrm>
            <a:off x="502920" y="320040"/>
            <a:ext cx="6583680" cy="685800"/>
          </a:xfrm>
          <a:prstGeom prst="rect">
            <a:avLst/>
          </a:prstGeom>
          <a:noFill/>
          <a:ln/>
        </p:spPr>
        <p:txBody>
          <a:bodyPr wrap="square" rtlCol="0" anchor="ctr"/>
          <a:lstStyle/>
          <a:p>
            <a:pPr indent="0" marL="0">
              <a:buNone/>
            </a:pPr>
            <a:r>
              <a:rPr lang="en-US" sz="2800" b="1" dirty="0">
                <a:solidFill>
                  <a:srgbClr val="166534"/>
                </a:solidFill>
                <a:latin typeface="Aptos Display" pitchFamily="34" charset="0"/>
                <a:ea typeface="Aptos Display" pitchFamily="34" charset="-122"/>
                <a:cs typeface="Aptos Display" pitchFamily="34" charset="-120"/>
              </a:rPr>
              <a:t>Closing</a:t>
            </a:r>
            <a:endParaRPr lang="en-US" sz="2800" dirty="0"/>
          </a:p>
        </p:txBody>
      </p:sp>
      <p:sp>
        <p:nvSpPr>
          <p:cNvPr id="4" name="Text 2"/>
          <p:cNvSpPr/>
          <p:nvPr/>
        </p:nvSpPr>
        <p:spPr>
          <a:xfrm>
            <a:off x="548640" y="1115568"/>
            <a:ext cx="10789920" cy="3474720"/>
          </a:xfrm>
          <a:prstGeom prst="rect">
            <a:avLst/>
          </a:prstGeom>
          <a:noFill/>
          <a:ln/>
        </p:spPr>
        <p:txBody>
          <a:bodyPr wrap="square"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Operate carefully, document decisions and protect client trust.</a:t>
            </a:r>
            <a:endParaRPr lang="en-US" sz="1800" dirty="0"/>
          </a:p>
        </p:txBody>
      </p:sp>
      <p:sp>
        <p:nvSpPr>
          <p:cNvPr id="5" name="Text 3"/>
          <p:cNvSpPr/>
          <p:nvPr/>
        </p:nvSpPr>
        <p:spPr>
          <a:xfrm>
            <a:off x="502920" y="6473952"/>
            <a:ext cx="5029200" cy="201168"/>
          </a:xfrm>
          <a:prstGeom prst="rect">
            <a:avLst/>
          </a:prstGeom>
          <a:noFill/>
          <a:ln/>
        </p:spPr>
        <p:txBody>
          <a:bodyPr wrap="square" rtlCol="0" anchor="ctr"/>
          <a:lstStyle/>
          <a:p>
            <a:pPr indent="0" marL="0">
              <a:buNone/>
            </a:pPr>
            <a:r>
              <a:rPr lang="en-US" sz="800" dirty="0">
                <a:solidFill>
                  <a:srgbClr val="64748B"/>
                </a:solidFill>
              </a:rPr>
              <a:t>Mtendere Education Consult · Admin Training · 45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Aöthothe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Mtendere Admin Training Presentation</dc:title>
  <dc:subject>Mtendere Education Consult Admin Training</dc:subject>
  <dc:creator>Chrispine Mndala / Aöthothe Technologies</dc:creator>
  <cp:lastModifiedBy>Chrispine Mndala / Aöthothe Technologies</cp:lastModifiedBy>
  <cp:revision>1</cp:revision>
  <dcterms:created xsi:type="dcterms:W3CDTF">2026-07-22T23:43:51Z</dcterms:created>
  <dcterms:modified xsi:type="dcterms:W3CDTF">2026-07-22T23:43:51Z</dcterms:modified>
</cp:coreProperties>
</file>